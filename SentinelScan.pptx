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3D6489-9DA7-49D3-8CC7-0351417C191D}" v="4" dt="2026-09-16T06:27:43.2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v rawal" userId="666fe3837bd18505" providerId="LiveId" clId="{304912EA-2BFD-4C77-8C7E-1AF34E9DA1B0}"/>
    <pc:docChg chg="undo custSel modSld">
      <pc:chgData name="Luv rawal" userId="666fe3837bd18505" providerId="LiveId" clId="{304912EA-2BFD-4C77-8C7E-1AF34E9DA1B0}" dt="2026-09-16T10:23:38.211" v="60" actId="1076"/>
      <pc:docMkLst>
        <pc:docMk/>
      </pc:docMkLst>
      <pc:sldChg chg="modSp mod">
        <pc:chgData name="Luv rawal" userId="666fe3837bd18505" providerId="LiveId" clId="{304912EA-2BFD-4C77-8C7E-1AF34E9DA1B0}" dt="2026-09-16T10:23:38.211" v="60" actId="1076"/>
        <pc:sldMkLst>
          <pc:docMk/>
          <pc:sldMk cId="0" sldId="256"/>
        </pc:sldMkLst>
        <pc:spChg chg="mod">
          <ac:chgData name="Luv rawal" userId="666fe3837bd18505" providerId="LiveId" clId="{304912EA-2BFD-4C77-8C7E-1AF34E9DA1B0}" dt="2026-09-16T10:23:38.211" v="60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Luv rawal" userId="666fe3837bd18505" providerId="LiveId" clId="{304912EA-2BFD-4C77-8C7E-1AF34E9DA1B0}" dt="2026-09-16T05:43:06.300" v="2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v rawal" userId="666fe3837bd18505" providerId="LiveId" clId="{304912EA-2BFD-4C77-8C7E-1AF34E9DA1B0}" dt="2026-09-16T05:42:28.352" v="17" actId="255"/>
          <ac:spMkLst>
            <pc:docMk/>
            <pc:sldMk cId="0" sldId="256"/>
            <ac:spMk id="21" creationId="{57253FC2-9973-FA13-F476-69CBB102D46C}"/>
          </ac:spMkLst>
        </pc:spChg>
        <pc:spChg chg="mod">
          <ac:chgData name="Luv rawal" userId="666fe3837bd18505" providerId="LiveId" clId="{304912EA-2BFD-4C77-8C7E-1AF34E9DA1B0}" dt="2026-09-16T05:42:43.184" v="19" actId="255"/>
          <ac:spMkLst>
            <pc:docMk/>
            <pc:sldMk cId="0" sldId="256"/>
            <ac:spMk id="23" creationId="{5EB6791E-E683-94EE-54F9-ADD331165124}"/>
          </ac:spMkLst>
        </pc:spChg>
        <pc:spChg chg="mod">
          <ac:chgData name="Luv rawal" userId="666fe3837bd18505" providerId="LiveId" clId="{304912EA-2BFD-4C77-8C7E-1AF34E9DA1B0}" dt="2026-09-16T05:42:52.684" v="21" actId="255"/>
          <ac:spMkLst>
            <pc:docMk/>
            <pc:sldMk cId="0" sldId="256"/>
            <ac:spMk id="25" creationId="{D168B8AB-AE89-BDA9-9853-B4318A963EFA}"/>
          </ac:spMkLst>
        </pc:spChg>
        <pc:spChg chg="mod">
          <ac:chgData name="Luv rawal" userId="666fe3837bd18505" providerId="LiveId" clId="{304912EA-2BFD-4C77-8C7E-1AF34E9DA1B0}" dt="2026-09-16T05:42:36.866" v="18" actId="255"/>
          <ac:spMkLst>
            <pc:docMk/>
            <pc:sldMk cId="0" sldId="256"/>
            <ac:spMk id="27" creationId="{9D45D302-06D2-64C1-6BAC-F44829056D59}"/>
          </ac:spMkLst>
        </pc:spChg>
        <pc:spChg chg="mod">
          <ac:chgData name="Luv rawal" userId="666fe3837bd18505" providerId="LiveId" clId="{304912EA-2BFD-4C77-8C7E-1AF34E9DA1B0}" dt="2026-09-16T05:42:47.954" v="20" actId="255"/>
          <ac:spMkLst>
            <pc:docMk/>
            <pc:sldMk cId="0" sldId="256"/>
            <ac:spMk id="29" creationId="{04C4AEDA-9F40-05B1-063C-1037D5DD3D2E}"/>
          </ac:spMkLst>
        </pc:spChg>
        <pc:spChg chg="mod">
          <ac:chgData name="Luv rawal" userId="666fe3837bd18505" providerId="LiveId" clId="{304912EA-2BFD-4C77-8C7E-1AF34E9DA1B0}" dt="2026-09-16T05:42:57.462" v="22" actId="255"/>
          <ac:spMkLst>
            <pc:docMk/>
            <pc:sldMk cId="0" sldId="256"/>
            <ac:spMk id="31" creationId="{D024486C-3D6D-1DF2-F07D-187BC934EDA8}"/>
          </ac:spMkLst>
        </pc:spChg>
      </pc:sldChg>
      <pc:sldChg chg="addSp modSp mod">
        <pc:chgData name="Luv rawal" userId="666fe3837bd18505" providerId="LiveId" clId="{304912EA-2BFD-4C77-8C7E-1AF34E9DA1B0}" dt="2026-09-16T05:53:32.486" v="55" actId="1076"/>
        <pc:sldMkLst>
          <pc:docMk/>
          <pc:sldMk cId="0" sldId="257"/>
        </pc:sldMkLst>
        <pc:spChg chg="mod">
          <ac:chgData name="Luv rawal" userId="666fe3837bd18505" providerId="LiveId" clId="{304912EA-2BFD-4C77-8C7E-1AF34E9DA1B0}" dt="2026-09-16T05:53:32.486" v="55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5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7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27.031" v="54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9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22.496" v="53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3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4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5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18.153" v="52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Luv rawal" userId="666fe3837bd18505" providerId="LiveId" clId="{304912EA-2BFD-4C77-8C7E-1AF34E9DA1B0}" dt="2026-09-16T05:53:09.528" v="49" actId="255"/>
          <ac:spMkLst>
            <pc:docMk/>
            <pc:sldMk cId="0" sldId="257"/>
            <ac:spMk id="19" creationId="{00000000-0000-0000-0000-000000000000}"/>
          </ac:spMkLst>
        </pc:spChg>
        <pc:spChg chg="add mod">
          <ac:chgData name="Luv rawal" userId="666fe3837bd18505" providerId="LiveId" clId="{304912EA-2BFD-4C77-8C7E-1AF34E9DA1B0}" dt="2026-09-16T05:52:45.946" v="47" actId="571"/>
          <ac:spMkLst>
            <pc:docMk/>
            <pc:sldMk cId="0" sldId="257"/>
            <ac:spMk id="36" creationId="{3DA4A8F5-C1E0-1F64-83A2-872DD74D9EA9}"/>
          </ac:spMkLst>
        </pc:spChg>
        <pc:spChg chg="add mod">
          <ac:chgData name="Luv rawal" userId="666fe3837bd18505" providerId="LiveId" clId="{304912EA-2BFD-4C77-8C7E-1AF34E9DA1B0}" dt="2026-09-16T05:52:45.946" v="47" actId="571"/>
          <ac:spMkLst>
            <pc:docMk/>
            <pc:sldMk cId="0" sldId="257"/>
            <ac:spMk id="37" creationId="{8ADB8E90-5FAD-0564-2837-56B2588D9BC2}"/>
          </ac:spMkLst>
        </pc:spChg>
        <pc:spChg chg="add mod">
          <ac:chgData name="Luv rawal" userId="666fe3837bd18505" providerId="LiveId" clId="{304912EA-2BFD-4C77-8C7E-1AF34E9DA1B0}" dt="2026-09-16T05:52:45.946" v="47" actId="571"/>
          <ac:spMkLst>
            <pc:docMk/>
            <pc:sldMk cId="0" sldId="257"/>
            <ac:spMk id="38" creationId="{D7452148-F65B-1C3E-0B0E-AF8F092C8FFB}"/>
          </ac:spMkLst>
        </pc:spChg>
      </pc:sldChg>
      <pc:sldChg chg="modSp mod">
        <pc:chgData name="Luv rawal" userId="666fe3837bd18505" providerId="LiveId" clId="{304912EA-2BFD-4C77-8C7E-1AF34E9DA1B0}" dt="2026-09-16T05:50:15.877" v="45" actId="1076"/>
        <pc:sldMkLst>
          <pc:docMk/>
          <pc:sldMk cId="0" sldId="258"/>
        </pc:sldMkLst>
        <pc:spChg chg="mod">
          <ac:chgData name="Luv rawal" userId="666fe3837bd18505" providerId="LiveId" clId="{304912EA-2BFD-4C77-8C7E-1AF34E9DA1B0}" dt="2026-09-16T05:50:00.987" v="42" actId="107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Luv rawal" userId="666fe3837bd18505" providerId="LiveId" clId="{304912EA-2BFD-4C77-8C7E-1AF34E9DA1B0}" dt="2026-09-16T05:49:46.822" v="38" actId="107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Luv rawal" userId="666fe3837bd18505" providerId="LiveId" clId="{304912EA-2BFD-4C77-8C7E-1AF34E9DA1B0}" dt="2026-09-16T05:50:15.877" v="45" actId="107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Luv rawal" userId="666fe3837bd18505" providerId="LiveId" clId="{304912EA-2BFD-4C77-8C7E-1AF34E9DA1B0}" dt="2026-09-16T05:50:11.274" v="44" actId="1076"/>
          <ac:spMkLst>
            <pc:docMk/>
            <pc:sldMk cId="0" sldId="258"/>
            <ac:spMk id="26" creationId="{00000000-0000-0000-0000-000000000000}"/>
          </ac:spMkLst>
        </pc:spChg>
        <pc:spChg chg="mod">
          <ac:chgData name="Luv rawal" userId="666fe3837bd18505" providerId="LiveId" clId="{304912EA-2BFD-4C77-8C7E-1AF34E9DA1B0}" dt="2026-09-16T05:50:07.003" v="43" actId="107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Luv rawal" userId="666fe3837bd18505" providerId="LiveId" clId="{304912EA-2BFD-4C77-8C7E-1AF34E9DA1B0}" dt="2026-09-16T05:49:54.552" v="40" actId="107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Luv rawal" userId="666fe3837bd18505" providerId="LiveId" clId="{304912EA-2BFD-4C77-8C7E-1AF34E9DA1B0}" dt="2026-09-16T05:49:50.472" v="39" actId="1076"/>
          <ac:spMkLst>
            <pc:docMk/>
            <pc:sldMk cId="0" sldId="258"/>
            <ac:spMk id="29" creationId="{00000000-0000-0000-0000-000000000000}"/>
          </ac:spMkLst>
        </pc:spChg>
      </pc:sldChg>
      <pc:sldChg chg="addSp delSp modSp mod">
        <pc:chgData name="Luv rawal" userId="666fe3837bd18505" providerId="LiveId" clId="{304912EA-2BFD-4C77-8C7E-1AF34E9DA1B0}" dt="2026-09-16T05:54:32.034" v="57" actId="1076"/>
        <pc:sldMkLst>
          <pc:docMk/>
          <pc:sldMk cId="540050447" sldId="263"/>
        </pc:sldMkLst>
        <pc:spChg chg="add mod">
          <ac:chgData name="Luv rawal" userId="666fe3837bd18505" providerId="LiveId" clId="{304912EA-2BFD-4C77-8C7E-1AF34E9DA1B0}" dt="2026-09-16T05:54:32.034" v="57" actId="1076"/>
          <ac:spMkLst>
            <pc:docMk/>
            <pc:sldMk cId="540050447" sldId="263"/>
            <ac:spMk id="3" creationId="{14428D4D-6AD5-CB31-B11E-4C7CCA5AA473}"/>
          </ac:spMkLst>
        </pc:spChg>
        <pc:spChg chg="add del">
          <ac:chgData name="Luv rawal" userId="666fe3837bd18505" providerId="LiveId" clId="{304912EA-2BFD-4C77-8C7E-1AF34E9DA1B0}" dt="2026-09-16T05:44:05.182" v="28" actId="22"/>
          <ac:spMkLst>
            <pc:docMk/>
            <pc:sldMk cId="540050447" sldId="263"/>
            <ac:spMk id="5" creationId="{88CBE315-9585-B412-69AC-590803430EEF}"/>
          </ac:spMkLst>
        </pc:spChg>
        <pc:spChg chg="mod">
          <ac:chgData name="Luv rawal" userId="666fe3837bd18505" providerId="LiveId" clId="{304912EA-2BFD-4C77-8C7E-1AF34E9DA1B0}" dt="2026-09-16T05:44:43.663" v="36" actId="20577"/>
          <ac:spMkLst>
            <pc:docMk/>
            <pc:sldMk cId="540050447" sldId="263"/>
            <ac:spMk id="7" creationId="{EFA32A8E-159F-1816-D025-54F3BBA8158D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1" creationId="{C62ED377-D67F-E743-4A04-13CAC7FE450A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2" creationId="{3D0DCA5E-57A5-E9EB-3C12-8C2CE2A33031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3" creationId="{60520609-3A9A-9951-32A0-89707B0EADCA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4" creationId="{1A36C1B7-1F66-7FCD-ABD7-05EF021783B0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5" creationId="{0DECC320-5ED6-E89C-FA66-69E8A99445A7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6" creationId="{E7DF5EFF-72C6-89D0-DF50-0AA4EA486B21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7" creationId="{0CFA8AED-26BE-9304-642D-AE4F70E2848D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8" creationId="{08EDA010-CABA-C0A8-D177-EB9AC618FD67}"/>
          </ac:spMkLst>
        </pc:spChg>
        <pc:spChg chg="mod">
          <ac:chgData name="Luv rawal" userId="666fe3837bd18505" providerId="LiveId" clId="{304912EA-2BFD-4C77-8C7E-1AF34E9DA1B0}" dt="2026-09-16T05:54:26.042" v="56" actId="1076"/>
          <ac:spMkLst>
            <pc:docMk/>
            <pc:sldMk cId="540050447" sldId="263"/>
            <ac:spMk id="19" creationId="{C375255C-AF85-403B-9552-BAB7EFFFD6D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8972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5AD81-A2AF-E6EC-29E5-4D89879A0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996205-EC1B-5B83-D1E1-CA4710B1F5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2DA66-1567-AF9C-D9AC-33E503061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41BB7-2869-EB9D-3327-730591AD8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36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50665" y="188665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SentinelScan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1698794" y="303422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600" dirty="0">
                <a:solidFill>
                  <a:schemeClr val="accent4"/>
                </a:solidFill>
              </a:rPr>
              <a:t>One URL in. A prioritized, fixable security report out. In minutes, not weeks, without needing a security team.</a:t>
            </a:r>
            <a:endParaRPr lang="en-US" sz="1700" dirty="0">
              <a:solidFill>
                <a:schemeClr val="accent4"/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3823685" y="3544699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9C7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Website Vulnerability &amp; OWASP Top 10 Scanner</a:t>
            </a:r>
            <a:endParaRPr lang="en-US" sz="13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57253FC2-9973-FA13-F476-69CBB102D46C}"/>
              </a:ext>
            </a:extLst>
          </p:cNvPr>
          <p:cNvSpPr txBox="1"/>
          <p:nvPr/>
        </p:nvSpPr>
        <p:spPr>
          <a:xfrm>
            <a:off x="868991" y="4896519"/>
            <a:ext cx="3199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5EB6791E-E683-94EE-54F9-ADD331165124}"/>
              </a:ext>
            </a:extLst>
          </p:cNvPr>
          <p:cNvSpPr txBox="1"/>
          <p:nvPr/>
        </p:nvSpPr>
        <p:spPr>
          <a:xfrm>
            <a:off x="4220547" y="4896519"/>
            <a:ext cx="3199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by</a:t>
            </a:r>
            <a:endParaRPr lang="en-US" sz="2400" dirty="0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D168B8AB-AE89-BDA9-9853-B4318A963EFA}"/>
              </a:ext>
            </a:extLst>
          </p:cNvPr>
          <p:cNvSpPr txBox="1"/>
          <p:nvPr/>
        </p:nvSpPr>
        <p:spPr>
          <a:xfrm>
            <a:off x="7954035" y="4896519"/>
            <a:ext cx="3199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2400" dirty="0"/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9D45D302-06D2-64C1-6BAC-F44829056D59}"/>
              </a:ext>
            </a:extLst>
          </p:cNvPr>
          <p:cNvSpPr txBox="1"/>
          <p:nvPr/>
        </p:nvSpPr>
        <p:spPr>
          <a:xfrm>
            <a:off x="868991" y="5473648"/>
            <a:ext cx="1678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9C7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Scanning tool</a:t>
            </a:r>
            <a:endParaRPr lang="en-US" sz="16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04C4AEDA-9F40-05B1-063C-1037D5DD3D2E}"/>
              </a:ext>
            </a:extLst>
          </p:cNvPr>
          <p:cNvSpPr txBox="1"/>
          <p:nvPr/>
        </p:nvSpPr>
        <p:spPr>
          <a:xfrm>
            <a:off x="4236720" y="5473648"/>
            <a:ext cx="14916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B9C7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Uplers</a:t>
            </a:r>
            <a:endParaRPr lang="en-US" sz="1600"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024486C-3D6D-1DF2-F07D-187BC934EDA8}"/>
              </a:ext>
            </a:extLst>
          </p:cNvPr>
          <p:cNvSpPr txBox="1"/>
          <p:nvPr/>
        </p:nvSpPr>
        <p:spPr>
          <a:xfrm>
            <a:off x="7985760" y="5473648"/>
            <a:ext cx="14916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9C7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 Rawal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04120-A7B9-228B-E87D-64CB8348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>
            <a:extLst>
              <a:ext uri="{FF2B5EF4-FFF2-40B4-BE49-F238E27FC236}">
                <a16:creationId xmlns:a16="http://schemas.microsoft.com/office/drawing/2014/main" id="{8C4A7E48-D5CD-6FAD-A2D6-FF3EEC3A166C}"/>
              </a:ext>
            </a:extLst>
          </p:cNvPr>
          <p:cNvSpPr txBox="1"/>
          <p:nvPr/>
        </p:nvSpPr>
        <p:spPr>
          <a:xfrm>
            <a:off x="548640" y="737119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is checking. Attackers already are.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FA32A8E-159F-1816-D025-54F3BBA8158D}"/>
              </a:ext>
            </a:extLst>
          </p:cNvPr>
          <p:cNvSpPr txBox="1"/>
          <p:nvPr/>
        </p:nvSpPr>
        <p:spPr>
          <a:xfrm>
            <a:off x="548640" y="2252336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 and site owners have no fast, on-demand way to check whether a website is running outdated software or exposing OWASP Top 10-class weaknesses.
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security audits are slow, expensive, and need specialist skills — so most small and mid-sized teams skip them.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CCEB034-2A03-B1FC-B4E8-1BFCC670C453}"/>
              </a:ext>
            </a:extLst>
          </p:cNvPr>
          <p:cNvSpPr/>
          <p:nvPr/>
        </p:nvSpPr>
        <p:spPr>
          <a:xfrm>
            <a:off x="521270" y="4533950"/>
            <a:ext cx="6336730" cy="1485807"/>
          </a:xfrm>
          <a:prstGeom prst="roundRect">
            <a:avLst>
              <a:gd name="adj" fmla="val 5161"/>
            </a:avLst>
          </a:prstGeom>
          <a:solidFill>
            <a:srgbClr val="23374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485E4A4-33AE-0D75-8AED-811C054D7ADC}"/>
              </a:ext>
            </a:extLst>
          </p:cNvPr>
          <p:cNvSpPr txBox="1"/>
          <p:nvPr/>
        </p:nvSpPr>
        <p:spPr>
          <a:xfrm>
            <a:off x="795590" y="4689398"/>
            <a:ext cx="5785710" cy="387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F6F145A-C382-03F5-8407-488B6C374A28}"/>
              </a:ext>
            </a:extLst>
          </p:cNvPr>
          <p:cNvSpPr txBox="1"/>
          <p:nvPr/>
        </p:nvSpPr>
        <p:spPr>
          <a:xfrm>
            <a:off x="795590" y="4963717"/>
            <a:ext cx="5785710" cy="1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lack rapid vulnerability visibility until a breach occurs.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62ED377-D67F-E743-4A04-13CAC7FE450A}"/>
              </a:ext>
            </a:extLst>
          </p:cNvPr>
          <p:cNvSpPr/>
          <p:nvPr/>
        </p:nvSpPr>
        <p:spPr>
          <a:xfrm>
            <a:off x="7315200" y="1932296"/>
            <a:ext cx="4297680" cy="3749040"/>
          </a:xfrm>
          <a:prstGeom prst="rect">
            <a:avLst/>
          </a:prstGeom>
          <a:solidFill>
            <a:srgbClr val="132A3A"/>
          </a:solidFill>
          <a:ln w="12700">
            <a:solidFill>
              <a:srgbClr val="2E4E63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DCA5E-57A5-E9EB-3C12-8C2CE2A33031}"/>
              </a:ext>
            </a:extLst>
          </p:cNvPr>
          <p:cNvSpPr txBox="1"/>
          <p:nvPr/>
        </p:nvSpPr>
        <p:spPr>
          <a:xfrm>
            <a:off x="7635240" y="21608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~6%</a:t>
            </a:r>
            <a:endParaRPr lang="en-US" sz="3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0520609-3A9A-9951-32A0-89707B0EADCA}"/>
              </a:ext>
            </a:extLst>
          </p:cNvPr>
          <p:cNvSpPr txBox="1"/>
          <p:nvPr/>
        </p:nvSpPr>
        <p:spPr>
          <a:xfrm>
            <a:off x="9098280" y="217918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websites run fully up-to-date software</a:t>
            </a:r>
            <a:endParaRPr lang="en-US" sz="11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36C1B7-1F66-7FCD-ABD7-05EF021783B0}"/>
              </a:ext>
            </a:extLst>
          </p:cNvPr>
          <p:cNvSpPr txBox="1"/>
          <p:nvPr/>
        </p:nvSpPr>
        <p:spPr>
          <a:xfrm>
            <a:off x="7635240" y="305700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6.29B</a:t>
            </a:r>
            <a:endParaRPr lang="en-US" sz="3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DECC320-5ED6-E89C-FA66-69E8A99445A7}"/>
              </a:ext>
            </a:extLst>
          </p:cNvPr>
          <p:cNvSpPr txBox="1"/>
          <p:nvPr/>
        </p:nvSpPr>
        <p:spPr>
          <a:xfrm>
            <a:off x="9098280" y="307529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targeting website vulnerabilities in 2025 (↑ 56% YoY)</a:t>
            </a:r>
            <a:endParaRPr lang="en-US" sz="115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7DF5EFF-72C6-89D0-DF50-0AA4EA486B21}"/>
              </a:ext>
            </a:extLst>
          </p:cNvPr>
          <p:cNvSpPr txBox="1"/>
          <p:nvPr/>
        </p:nvSpPr>
        <p:spPr>
          <a:xfrm>
            <a:off x="7635240" y="39531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$4.44M</a:t>
            </a:r>
            <a:endParaRPr lang="en-US" sz="3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CFA8AED-26BE-9304-642D-AE4F70E2848D}"/>
              </a:ext>
            </a:extLst>
          </p:cNvPr>
          <p:cNvSpPr txBox="1"/>
          <p:nvPr/>
        </p:nvSpPr>
        <p:spPr>
          <a:xfrm>
            <a:off x="9098280" y="39714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2025</a:t>
            </a:r>
            <a:endParaRPr lang="en-US" sz="11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8EDA010-CABA-C0A8-D177-EB9AC618FD67}"/>
              </a:ext>
            </a:extLst>
          </p:cNvPr>
          <p:cNvSpPr txBox="1"/>
          <p:nvPr/>
        </p:nvSpPr>
        <p:spPr>
          <a:xfrm>
            <a:off x="7635240" y="48492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</a:t>
            </a:r>
            <a:endParaRPr lang="en-US" sz="3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375255C-AF85-403B-9552-BAB7EFFFD6D7}"/>
              </a:ext>
            </a:extLst>
          </p:cNvPr>
          <p:cNvSpPr txBox="1"/>
          <p:nvPr/>
        </p:nvSpPr>
        <p:spPr>
          <a:xfrm>
            <a:off x="9098280" y="48675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traced to unpatched components</a:t>
            </a:r>
            <a:endParaRPr lang="en-US" sz="1150" dirty="0"/>
          </a:p>
        </p:txBody>
      </p:sp>
      <p:sp>
        <p:nvSpPr>
          <p:cNvPr id="3" name="Text 17">
            <a:extLst>
              <a:ext uri="{FF2B5EF4-FFF2-40B4-BE49-F238E27FC236}">
                <a16:creationId xmlns:a16="http://schemas.microsoft.com/office/drawing/2014/main" id="{14428D4D-6AD5-CB31-B11E-4C7CCA5AA473}"/>
              </a:ext>
            </a:extLst>
          </p:cNvPr>
          <p:cNvSpPr txBox="1"/>
          <p:nvPr/>
        </p:nvSpPr>
        <p:spPr>
          <a:xfrm>
            <a:off x="7795260" y="589164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 dirty="0">
                <a:solidFill>
                  <a:schemeClr val="bg1">
                    <a:lumMod val="85000"/>
                  </a:schemeClr>
                </a:solidFill>
              </a:rPr>
              <a:t>from published 2025 industry breach-cost and threat-intelligence reports</a:t>
            </a:r>
            <a:endParaRPr 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005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Us Different — and Responsible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10073" y="1835984"/>
            <a:ext cx="329184" cy="329184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5231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779161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Report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062625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Outdated-component detection AND OWASP Top 10 in a single scan. Most tools do only one.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680" y="2876441"/>
            <a:ext cx="329184" cy="329184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87644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803289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Fixes, Not a CVE Dump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086753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remediation that developers can act on without security background.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3890492"/>
            <a:ext cx="329184" cy="329184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9005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827417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 That Means Something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110881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 severity scoring + business context. Know what to fix first.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21208" y="4924697"/>
            <a:ext cx="329184" cy="329184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9246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851545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Not Weeks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5135009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 and shareable report in minutes — no security expertise required.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46520" y="1143000"/>
            <a:ext cx="5212080" cy="5029200"/>
          </a:xfrm>
          <a:prstGeom prst="rect">
            <a:avLst/>
          </a:prstGeom>
          <a:solidFill>
            <a:srgbClr val="E8F0F5"/>
          </a:solidFill>
          <a:ln w="12700">
            <a:solidFill>
              <a:srgbClr val="CBD9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BY DESIGN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1783080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96328" y="172821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gate before every scan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66560" y="249631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96328" y="244144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Non-destructive checks only (read-only probes, zero exploitation)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320954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0" y="3209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96328" y="3154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requests (scan never degrades target availability)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766560" y="3922776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0" y="3922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38679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scope disclosure (report states exactly what was and wasn’t tested)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75120" y="4681728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A3A5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0372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scanner that could damage the site it audits is not a security tool. Restraint is a feature.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 &amp; Approach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brief, then answering it exactly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361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portal where a user submits a URL, confirms authorization, and gets an automated, prioritized security report within minutes.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two ways: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for triage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PDF for audits, compliance, or client hand-off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PIPELINE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394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40480"/>
            <a:ext cx="594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D3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92277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&amp; Fingerprinting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22452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DNS, HTTP headers, server detection, robots.txt/sitemap parsing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5394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754880"/>
            <a:ext cx="594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D3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83717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OWASP Top 10 Analysis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3892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matching, CVE cross-reference, OWASP risk checks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5394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69280"/>
            <a:ext cx="594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D3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575157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SOAR-Integrated Remediation Report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605332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aggregated, severity-prioritized, remediation playbooks attached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63640" y="1371600"/>
            <a:ext cx="5349240" cy="502920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0" y="1572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2131485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23500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website URL submitted through the portal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28209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3082461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 software &amp; version detection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risks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SOAR-enabled remediation — automated action playbook per finding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remediation guidance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58618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478735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only (real attacker’s view)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Non-destructive, read-only checks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by developers and non-technical stakeholders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Capabilities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end to end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URL Scan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889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URL and watch live progress as each module reports back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6002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CMS Fingerprinting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7889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CMS, JS libraries, frameworks — with version numbers (signature-based, Wappalyzer-style)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6002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Outdated-Component Detection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7889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detected version cross-referenced against the NVD/CVE database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52560" y="141732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6002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354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OWASP Top 10 Checks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7889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2025 category set, run automatically on every scan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9776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6177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CVSS-Based Severity Scoring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1663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Critical, High, Medium, Low, Info — triage order is never a guess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379476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66160" y="39776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61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46177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SOAR-Enabled Remediation Playbooks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1663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includes an automated action playbook — developers execute fixes without manual research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17920" y="379476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39776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46177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Dashboard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51663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site’s security posture over time, scan after scan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052560" y="3794760"/>
            <a:ext cx="26974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35440" y="39776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A3A5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354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235440" y="46177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PDF Report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9235440" y="51663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audits, compliance evidence, or client delivery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Seven-layer stack, one request path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99616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499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44475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17007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React/Next.js + Tailwind — URL intake, auth checkbox, live dashboard, report viewer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43684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25980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" y="21259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0711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Orchestration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23271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JWT — /submit_scan, /poll_status, /fetch_report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752344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26974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Scan Engine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29535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 workers + Redis queue — non-blocking parallel scans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296412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378708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33787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33238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Modules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78992" y="35798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 · Fingerprinting · OWASP Checks · CVE Cross-Ref (concurrent)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922776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005072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39502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Intelligence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NVD/CVE API + CVSS v3 scoring engine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549140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4631436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" y="46314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78992" y="457657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SOAR Orchestration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78992" y="48326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SOAR connector — auto-triggers remediation playbooks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175504"/>
            <a:ext cx="5029200" cy="5532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257800"/>
            <a:ext cx="310896" cy="310896"/>
          </a:xfrm>
          <a:prstGeom prst="ellipse">
            <a:avLst/>
          </a:prstGeom>
          <a:solidFill>
            <a:srgbClr val="1A3A5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5257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78992" y="520293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Generation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" y="54589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+ ReportLab/WeasyPrint — web dashboard + downloadable PDF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852160" y="1417320"/>
            <a:ext cx="576072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A9B7C2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5852160" y="34518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DIAGRAM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852160" y="39090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EB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7-layer vertical stack — diagram to be inserted here</a:t>
            </a:r>
            <a:endParaRPr lang="en-US" sz="11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39B98C2A-505F-E6F9-A259-5617BDEC3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844554"/>
            <a:ext cx="6240313" cy="5733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scan moves through the system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904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USER PORTAL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4650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URL + clicks Scan (with authorization confirmation) → Request sent to FastAPI backend (JWT validated)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404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EXECUTION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60904"/>
            <a:ext cx="45720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 Worker (headers/DNS/TLS) · Fingerprint Worker (signature match) · OWASP Module (A01–A10 checks) · CVE Module (NVD lookup) — all write results to Redis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029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021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POINT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58184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worker results merge in PostgreSQL: raw findings, CVE enrichment, CVSS severity, remediation playbook mapping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5029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INTEGRATION LOOP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18304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High/Critical findings auto-forwarded to SOAR queue → matching playbook retrieved → execution status logged back to PostgreSQL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5029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4223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GENERATION &amp; DELIVERY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678424"/>
            <a:ext cx="4572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grouped by OWASP category, sorted by CVSS → Jinja2 populates HTML + PDF → dashboard &amp; PDF show SOAR action status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1417320"/>
            <a:ext cx="576072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A9B7C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852160" y="34518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39090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EB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Circular/flow diagram — diagram to be inserted here</a:t>
            </a:r>
            <a:endParaRPr lang="en-US" sz="11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5AD7C91-FB2B-18C0-5798-8A8E6A82A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387179"/>
            <a:ext cx="5895081" cy="51722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Output &amp; Impact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8686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SentinelScan · Report — https://example-target.com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868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date: 2026-08-21  ·  Duration: 3m 42s  ·  COMPLETE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459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RISK SCORE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4708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 / 100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317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651760"/>
            <a:ext cx="697230" cy="12801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470" y="2651760"/>
            <a:ext cx="697230" cy="128016"/>
          </a:xfrm>
          <a:prstGeom prst="rect">
            <a:avLst/>
          </a:prstGeom>
          <a:solidFill>
            <a:srgbClr val="E1B2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71700" y="2651760"/>
            <a:ext cx="697230" cy="12801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8930" y="2651760"/>
            <a:ext cx="697230" cy="12801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27980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SECURE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27980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CRITICAL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3246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00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BY SEVERITY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511296"/>
            <a:ext cx="128016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3474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3840480"/>
            <a:ext cx="128016" cy="1828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38039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38039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4169664"/>
            <a:ext cx="128016" cy="182880"/>
          </a:xfrm>
          <a:prstGeom prst="rect">
            <a:avLst/>
          </a:prstGeom>
          <a:solidFill>
            <a:srgbClr val="E1B2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4133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108960" y="4133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E1B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77240" y="4498848"/>
            <a:ext cx="128016" cy="18288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05840" y="44622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462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489204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0292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PROFILE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285232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CMS: WordPress 5.4.2 [OUTDATED]</a:t>
            </a:r>
            <a:endParaRPr lang="en-US" sz="1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nginx 1.18.0 [OUTDATED]</a:t>
            </a:r>
            <a:endParaRPr lang="en-US" sz="1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PHP 7.2.24 [END OF LIFE]</a:t>
            </a:r>
            <a:endParaRPr lang="en-US" sz="1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jQuery 1.12.4 [OUTDATED]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69080" y="1508760"/>
            <a:ext cx="757123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97680" y="1627632"/>
            <a:ext cx="7114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(SORTED BY SEVERITY)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901952"/>
          <a:ext cx="7571232" cy="155448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9.8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RCE in detected CMS 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WordPress 5.4.2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CVE-XXXX-XXXXX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Deprecated TLS 1.0/1.1 accepted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TLS endpoint :443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9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5.3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Content-Security-Policy header absent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response headers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4069080" y="3794760"/>
            <a:ext cx="7571232" cy="1234440"/>
          </a:xfrm>
          <a:prstGeom prst="rect">
            <a:avLst/>
          </a:prstGeom>
          <a:solidFill>
            <a:srgbClr val="E8F0F5"/>
          </a:solidFill>
          <a:ln w="12700">
            <a:solidFill>
              <a:srgbClr val="CBD9E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43400" y="3931920"/>
            <a:ext cx="7022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1A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expands into a detailed finding card — description, evidence, CVSS vector, remediation steps — and rolls up into a prioritized remediation roadmap with SOAR playbook status for each finding (pending, automated, manual review required).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069080" y="5166360"/>
            <a:ext cx="7571232" cy="1143000"/>
          </a:xfrm>
          <a:prstGeom prst="rect">
            <a:avLst/>
          </a:prstGeom>
          <a:solidFill>
            <a:srgbClr val="1A3A5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343400" y="5285232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343400" y="5513832"/>
            <a:ext cx="7022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URL goes in. A comprehensive report with remediation actions comes out — exactly the ask. Security teams get visibility in minutes. SOAR automation means fixes can start immediately.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1108</Words>
  <Application>Microsoft Office PowerPoint</Application>
  <PresentationFormat>Widescreen</PresentationFormat>
  <Paragraphs>195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Luv rawal</cp:lastModifiedBy>
  <cp:revision>2</cp:revision>
  <dcterms:created xsi:type="dcterms:W3CDTF">2026-09-02T15:30:31Z</dcterms:created>
  <dcterms:modified xsi:type="dcterms:W3CDTF">2026-09-16T10:23:48Z</dcterms:modified>
</cp:coreProperties>
</file>